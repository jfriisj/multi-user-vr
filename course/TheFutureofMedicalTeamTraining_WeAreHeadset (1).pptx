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7465" autoAdjust="0"/>
  </p:normalViewPr>
  <p:slideViewPr>
    <p:cSldViewPr snapToGrid="0">
      <p:cViewPr varScale="1">
        <p:scale>
          <a:sx n="25" d="100"/>
          <a:sy n="25" d="100"/>
        </p:scale>
        <p:origin x="1804" y="1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Who we are (team of 4 software engineering students).</a:t>
            </a:r>
            <a:br>
              <a:rPr lang="en-US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Short mission statement: improving the future of medical team training.</a:t>
            </a:r>
            <a:br>
              <a:rPr lang="en-US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Brief setup: “Healthcare training has a major problem/room for improvement and we believe technology can fix it.”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61000" y="731838"/>
            <a:ext cx="6554788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Medical errors = massive impact (Johns Hopkins etc.).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Many errors stem from </a:t>
            </a:r>
            <a:r>
              <a:rPr lang="en-US" b="1">
                <a:solidFill>
                  <a:schemeClr val="dk1"/>
                </a:solidFill>
              </a:rPr>
              <a:t>team dynamics</a:t>
            </a:r>
            <a:r>
              <a:rPr lang="en-US">
                <a:solidFill>
                  <a:schemeClr val="dk1"/>
                </a:solidFill>
              </a:rPr>
              <a:t>, miscommunication, stress.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Training today doesn’t prepare teams for unpredictable, high-pressure real events.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Reinforce the idea that despite high stakes, training realism is low.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Visual emphasis: life-or-death consequences → poor preparation.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Mannequin training = unrealistic, emotionally flat.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Medical students/nurses’ quotes: fear of not being ready; stress not replicated.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“Learning on the job” → unsafe for both clinicians and patients.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Gap between simulation and real emergency teamwork.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Why VR is the right tool now (high fidelity, affordable hardware, immersion).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Hyper-realistic emergency scenarios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True team interaction</a:t>
            </a:r>
            <a:r>
              <a:rPr lang="en-US">
                <a:solidFill>
                  <a:schemeClr val="dk1"/>
                </a:solidFill>
              </a:rPr>
              <a:t>: people train as a group, not individually.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Performance analytics</a:t>
            </a:r>
            <a:r>
              <a:rPr lang="en-US">
                <a:solidFill>
                  <a:schemeClr val="dk1"/>
                </a:solidFill>
              </a:rPr>
              <a:t>: objective improvement, trackable over time.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Physical co-location: same room → natural communication and movement.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Shared spatial anchors: tech ensures VR room perfectly matches real room.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Shared experience feels like a real OR.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Encourage understanding that: </a:t>
            </a:r>
            <a:r>
              <a:rPr lang="en-US" i="1">
                <a:solidFill>
                  <a:schemeClr val="dk1"/>
                </a:solidFill>
              </a:rPr>
              <a:t>this is not isolated VR; it is collaborative VR.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ca1fb8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8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ca1fb8bf_0_8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300" cy="4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This is not just one VR scenario → it’s a scalable </a:t>
            </a:r>
            <a:r>
              <a:rPr lang="en-US" b="1">
                <a:solidFill>
                  <a:schemeClr val="dk1"/>
                </a:solidFill>
              </a:rPr>
              <a:t>software platform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Hospitals subscribe and get: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Scenario library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Updates &amp; analytics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en-US" dirty="0">
                <a:solidFill>
                  <a:schemeClr val="dk1"/>
                </a:solidFill>
              </a:rPr>
              <a:t>Support for multiple departments</a:t>
            </a:r>
            <a:br>
              <a:rPr lang="en-U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Low hardware requirements → high scalability.</a:t>
            </a:r>
            <a:br>
              <a:rPr lang="en-U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Predictable recurring revenue model (B2B SaaS).</a:t>
            </a:r>
            <a:br>
              <a:rPr lang="en-U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Easier rollouts because it uses existing XR hardware ecosystems.</a:t>
            </a:r>
            <a:br>
              <a:rPr lang="en-U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Sets the foundation for your business growth model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Medical simulation is a large and growing market.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Fragmented, dominated by outdated physical simulators.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Opportunity for high-realism, tech-driven team-based training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Targeting 2,500 top-tier hospitals/universities.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Goal: acquire 100 institutions.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Clear calculation: €50k per institution → €5M ARR potential in year 5.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Why this is realistic: high budgets for emergency training &amp; accreditation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Not just VR training — this is </a:t>
            </a:r>
            <a:r>
              <a:rPr lang="en-US" b="1">
                <a:solidFill>
                  <a:schemeClr val="dk1"/>
                </a:solidFill>
              </a:rPr>
              <a:t>team-based XR simulation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Competitors: typically solo VR or physical mannequins.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Unique value: real-time team coordination in shared VR space.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Past (Q3 2025): user interviews, early prototypes, tech validation.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Present (Q4 2025): refining shared-space tech + scenario design.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Future milestones: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Q2 2026: pilot at major university hospital.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Q4 2026: commercial MVP.</a:t>
            </a:r>
            <a:br>
              <a:rPr lang="en-US"/>
            </a:b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2027: scale to 10 paying institutions.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four Software Engineering bachelor graduates, now Master students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Mix of strong technical backgrounds + practical work experience.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Introduce each team member briefly job besides education: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Kasper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Sebastian 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Sebastian </a:t>
            </a:r>
            <a:r>
              <a:rPr lang="en-US">
                <a:solidFill>
                  <a:schemeClr val="dk1"/>
                </a:solidFill>
              </a:rPr>
              <a:t>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Jon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Wrap-up theme: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Complementary skill sets: software development, system design, XR development, product thinking.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Collective ambition: deliver a high-quality technical proof-of-concept grounded in real healthcare needs.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Software-first approach → high scalability.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Low hardware cost vs traditional simulators → compelling ROI.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Strong potential for recurring revenue via subscription/licensing.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Vision: safer patient outcomes through better-prepared medical teams.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Why now: technology is ready, demand is growing, training gaps remain huge.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What you want: a partner who believes in transforming medical education.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Close with a strong call to action and thank you.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Thanks!</a:t>
            </a: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3100" y="731500"/>
            <a:ext cx="116507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50" b="1" i="0">
                <a:solidFill>
                  <a:srgbClr val="081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097772" y="1953550"/>
            <a:ext cx="7609205" cy="31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1" i="0">
                <a:solidFill>
                  <a:srgbClr val="05080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48217" y="3600317"/>
            <a:ext cx="687793" cy="66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8217" y="5183319"/>
            <a:ext cx="687793" cy="66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6322" y="6664193"/>
            <a:ext cx="891584" cy="142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4570" y="3396058"/>
            <a:ext cx="4585290" cy="480007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6648671" y="2247105"/>
            <a:ext cx="0" cy="6689725"/>
          </a:xfrm>
          <a:custGeom>
            <a:avLst/>
            <a:gdLst/>
            <a:ahLst/>
            <a:cxnLst/>
            <a:rect l="l" t="t" r="r" b="b"/>
            <a:pathLst>
              <a:path w="120000" h="6689725" extrusionOk="0">
                <a:moveTo>
                  <a:pt x="0" y="6689458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50" b="1" i="0">
                <a:solidFill>
                  <a:srgbClr val="081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50" b="1" i="0">
                <a:solidFill>
                  <a:srgbClr val="081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1" i="0">
                <a:solidFill>
                  <a:srgbClr val="05080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950" b="1" i="0">
                <a:solidFill>
                  <a:srgbClr val="081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50" b="1" i="0" u="none" strike="noStrike" cap="none">
                <a:solidFill>
                  <a:srgbClr val="081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7772" y="1953550"/>
            <a:ext cx="7609205" cy="31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50" b="1" i="0" u="none" strike="noStrike" cap="none">
                <a:solidFill>
                  <a:srgbClr val="05080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7935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 descr="$PPTXTitle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25" rIns="0" bIns="0" anchor="t" anchorCtr="0">
            <a:spAutoFit/>
          </a:bodyPr>
          <a:lstStyle/>
          <a:p>
            <a:pPr marL="2266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11182A"/>
                </a:solidFill>
              </a:rPr>
              <a:t>The Stakes Are Immense. The Problem is Human.</a:t>
            </a:r>
            <a:endParaRPr sz="5100"/>
          </a:p>
        </p:txBody>
      </p:sp>
      <p:sp>
        <p:nvSpPr>
          <p:cNvPr id="55" name="Google Shape;55;p9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11834672" y="9179189"/>
            <a:ext cx="4822190" cy="255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E878E"/>
                </a:solidFill>
                <a:latin typeface="Arial"/>
                <a:ea typeface="Arial"/>
                <a:cs typeface="Arial"/>
                <a:sym typeface="Arial"/>
              </a:rPr>
              <a:t>+sources: Johns Hopkins University, </a:t>
            </a:r>
            <a:r>
              <a:rPr lang="en-US" sz="1500">
                <a:solidFill>
                  <a:srgbClr val="6E7780"/>
                </a:solidFill>
                <a:latin typeface="Arial"/>
                <a:ea typeface="Arial"/>
                <a:cs typeface="Arial"/>
                <a:sym typeface="Arial"/>
              </a:rPr>
              <a:t>CRICO Strategies.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538" y="2109633"/>
            <a:ext cx="15613022" cy="6764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5" y="0"/>
            <a:ext cx="17430750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/>
        </p:nvSpPr>
        <p:spPr>
          <a:xfrm>
            <a:off x="714150" y="919525"/>
            <a:ext cx="16105800" cy="119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0" b="1">
                <a:solidFill>
                  <a:srgbClr val="05080F"/>
                </a:solidFill>
              </a:rPr>
              <a:t>The Stakes Are Immense. The Problem is Human.</a:t>
            </a:r>
            <a:endParaRPr sz="5150" b="1">
              <a:solidFill>
                <a:srgbClr val="05080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23702"/>
            <a:ext cx="7947837" cy="7378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 descr="$PPTXTitle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25" rIns="0" bIns="0" anchor="t" anchorCtr="0">
            <a:spAutoFit/>
          </a:bodyPr>
          <a:lstStyle/>
          <a:p>
            <a:pPr marL="2834005" marR="5080" lvl="0" indent="-607059" algn="l" rtl="0">
              <a:lnSpc>
                <a:spcPct val="118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081D41"/>
                </a:solidFill>
              </a:rPr>
              <a:t>Today's Training is a Low-Fidelity Dress Rehearsal for a High-Stakes Reality</a:t>
            </a:r>
            <a:endParaRPr sz="4650"/>
          </a:p>
        </p:txBody>
      </p:sp>
      <p:sp>
        <p:nvSpPr>
          <p:cNvPr id="66" name="Google Shape;66;p10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 txBox="1"/>
          <p:nvPr/>
        </p:nvSpPr>
        <p:spPr>
          <a:xfrm>
            <a:off x="8763000" y="2362000"/>
            <a:ext cx="7858759" cy="2259965"/>
          </a:xfrm>
          <a:prstGeom prst="rect">
            <a:avLst/>
          </a:pr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54000" rIns="0" bIns="0" anchor="t" anchorCtr="0">
            <a:spAutoFit/>
          </a:bodyPr>
          <a:lstStyle/>
          <a:p>
            <a:pPr marL="222250" marR="306705" lvl="0" indent="5715" algn="l" rtl="0">
              <a:lnSpc>
                <a:spcPct val="9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"You stand there working on a plastic dummy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...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you know the real situation is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nothing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like this. My biggest fear is that I won't know what to do because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my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training hasn't prepared me for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stress."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234315" lvl="0" indent="0" algn="l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- Jakob</a:t>
            </a:r>
            <a:r>
              <a:rPr lang="en-US" sz="190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Medical </a:t>
            </a:r>
            <a:r>
              <a:rPr lang="en-US" sz="19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8763000" y="4889696"/>
            <a:ext cx="7858759" cy="1902460"/>
          </a:xfrm>
          <a:prstGeom prst="rect">
            <a:avLst/>
          </a:pr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222250" marR="499109" lvl="0" indent="5715" algn="just" rtl="0">
              <a:lnSpc>
                <a:spcPct val="9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"I can't think of any targeted training we've had for handling critical situations as a team. You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just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learn on the job, which isn't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ideal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for anyone."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234315" lvl="0" indent="0" algn="just" rtl="0">
              <a:lnSpc>
                <a:spcPct val="100000"/>
              </a:lnSpc>
              <a:spcBef>
                <a:spcPts val="146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- Sebastian, </a:t>
            </a:r>
            <a:r>
              <a:rPr lang="en-US" sz="19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Medical </a:t>
            </a:r>
            <a:r>
              <a:rPr lang="en-US" sz="19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8763000" y="7072707"/>
            <a:ext cx="7858759" cy="1902460"/>
          </a:xfrm>
          <a:prstGeom prst="rect">
            <a:avLst/>
          </a:pr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43200" rIns="0" bIns="0" anchor="t" anchorCtr="0">
            <a:spAutoFit/>
          </a:bodyPr>
          <a:lstStyle/>
          <a:p>
            <a:pPr marL="222250" marR="234315" lvl="0" indent="5715" algn="just" rtl="0">
              <a:lnSpc>
                <a:spcPct val="9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"My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biggest concern is: can I act correctly when I'm stressed? Will I be able to think clearly enough to save the patient when it's </a:t>
            </a:r>
            <a:r>
              <a:rPr lang="en-US" sz="23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 drill?"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234315" lvl="0" indent="0" algn="just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13131"/>
                </a:solidFill>
                <a:latin typeface="Arial"/>
                <a:ea typeface="Arial"/>
                <a:cs typeface="Arial"/>
                <a:sym typeface="Arial"/>
              </a:rPr>
              <a:t>- Simone, Nurse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67" y="2170508"/>
            <a:ext cx="1171796" cy="740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741" y="4493948"/>
            <a:ext cx="1146322" cy="107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267" y="6996112"/>
            <a:ext cx="1171796" cy="107235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 descr="$PPTXTitle"/>
          <p:cNvSpPr txBox="1">
            <a:spLocks noGrp="1"/>
          </p:cNvSpPr>
          <p:nvPr>
            <p:ph type="title"/>
          </p:nvPr>
        </p:nvSpPr>
        <p:spPr>
          <a:xfrm>
            <a:off x="714132" y="479061"/>
            <a:ext cx="1592453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0">
                <a:solidFill>
                  <a:srgbClr val="03112F"/>
                </a:solidFill>
              </a:rPr>
              <a:t>The Realism of VR. The Dynamics of Real-World Teamwork.</a:t>
            </a:r>
            <a:endParaRPr sz="4250"/>
          </a:p>
        </p:txBody>
      </p:sp>
      <p:sp>
        <p:nvSpPr>
          <p:cNvPr id="78" name="Google Shape;78;p11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2303928" y="1899878"/>
            <a:ext cx="4670425" cy="186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spAutoFit/>
          </a:bodyPr>
          <a:lstStyle/>
          <a:p>
            <a:pPr marL="19685" lvl="0" indent="-761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3112F"/>
                </a:solidFill>
                <a:latin typeface="Arial"/>
                <a:ea typeface="Arial"/>
                <a:cs typeface="Arial"/>
                <a:sym typeface="Arial"/>
              </a:rPr>
              <a:t>Hyper-Realistic Scenarios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marL="15240" marR="25400" lvl="0" indent="3809" algn="just" rtl="0">
              <a:lnSpc>
                <a:spcPct val="101600"/>
              </a:lnSpc>
              <a:spcBef>
                <a:spcPts val="1045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82D36"/>
                </a:solidFill>
                <a:latin typeface="Arial"/>
                <a:ea typeface="Arial"/>
                <a:cs typeface="Arial"/>
                <a:sym typeface="Arial"/>
              </a:rPr>
              <a:t>Train for high-risk, low-frequency emergencies in a safe, repeatable environment.</a:t>
            </a:r>
            <a:endParaRPr sz="2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2297292" y="4271395"/>
            <a:ext cx="5241925" cy="224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7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3112F"/>
                </a:solidFill>
                <a:latin typeface="Arial"/>
                <a:ea typeface="Arial"/>
                <a:cs typeface="Arial"/>
                <a:sym typeface="Arial"/>
              </a:rPr>
              <a:t>True Team Interaction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marL="24130" marR="5080" lvl="0" indent="-1270" algn="l" rtl="0">
              <a:lnSpc>
                <a:spcPct val="101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82D36"/>
                </a:solidFill>
                <a:latin typeface="Arial"/>
                <a:ea typeface="Arial"/>
                <a:cs typeface="Arial"/>
                <a:sym typeface="Arial"/>
              </a:rPr>
              <a:t>Develop communication and musc</a:t>
            </a:r>
            <a:r>
              <a:rPr lang="en-US" sz="2350">
                <a:solidFill>
                  <a:srgbClr val="11131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350">
                <a:solidFill>
                  <a:srgbClr val="282D36"/>
                </a:solidFill>
                <a:latin typeface="Arial"/>
                <a:ea typeface="Arial"/>
                <a:cs typeface="Arial"/>
                <a:sym typeface="Arial"/>
              </a:rPr>
              <a:t>e memory by working side-by-side with your actual team in the same physical space.</a:t>
            </a:r>
            <a:endParaRPr sz="2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2303190" y="6970645"/>
            <a:ext cx="5367020" cy="210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875" rIns="0" bIns="0" anchor="t" anchorCtr="0">
            <a:spAutoFit/>
          </a:bodyPr>
          <a:lstStyle/>
          <a:p>
            <a:pPr marL="14604" marR="995044" lvl="0" indent="0" algn="l" rtl="0">
              <a:lnSpc>
                <a:spcPct val="111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3112F"/>
                </a:solidFill>
                <a:latin typeface="Arial"/>
                <a:ea typeface="Arial"/>
                <a:cs typeface="Arial"/>
                <a:sym typeface="Arial"/>
              </a:rPr>
              <a:t>Actionable Performance Analytics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marL="15240" marR="5080" lvl="0" indent="-3175" algn="l" rtl="0">
              <a:lnSpc>
                <a:spcPct val="1016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82D36"/>
                </a:solidFill>
                <a:latin typeface="Arial"/>
                <a:ea typeface="Arial"/>
                <a:cs typeface="Arial"/>
                <a:sym typeface="Arial"/>
              </a:rPr>
              <a:t>Capture team and individual performance data to identify and close critical skill gaps.</a:t>
            </a:r>
            <a:endParaRPr sz="23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5338" y="2004763"/>
            <a:ext cx="7972425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7186" y="6383337"/>
            <a:ext cx="866110" cy="89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0567" y="2042848"/>
            <a:ext cx="4024866" cy="34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9535" y="6383337"/>
            <a:ext cx="917058" cy="89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08489" y="3549252"/>
            <a:ext cx="636845" cy="53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93783" y="6383337"/>
            <a:ext cx="891584" cy="89363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/>
          <p:nvPr/>
        </p:nvSpPr>
        <p:spPr>
          <a:xfrm>
            <a:off x="891584" y="5910988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10" h="120000" extrusionOk="0">
                <a:moveTo>
                  <a:pt x="0" y="0"/>
                </a:moveTo>
                <a:lnTo>
                  <a:pt x="1273691" y="0"/>
                </a:lnTo>
              </a:path>
            </a:pathLst>
          </a:custGeom>
          <a:noFill/>
          <a:ln w="12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2" descr="$PPTXTitle"/>
          <p:cNvSpPr txBox="1">
            <a:spLocks noGrp="1"/>
          </p:cNvSpPr>
          <p:nvPr>
            <p:ph type="title"/>
          </p:nvPr>
        </p:nvSpPr>
        <p:spPr>
          <a:xfrm>
            <a:off x="714125" y="351399"/>
            <a:ext cx="15971400" cy="8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150" rIns="0" bIns="0" anchor="t" anchorCtr="0">
            <a:spAutoFit/>
          </a:bodyPr>
          <a:lstStyle/>
          <a:p>
            <a:pPr marL="165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71631"/>
                </a:solidFill>
              </a:rPr>
              <a:t>How It Works: Shared Space, Shared Experience</a:t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808977" y="6313189"/>
            <a:ext cx="4441825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38100" marR="1906270" lvl="0" indent="-26034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71631"/>
                </a:solidFill>
                <a:latin typeface="Arial"/>
                <a:ea typeface="Arial"/>
                <a:cs typeface="Arial"/>
                <a:sym typeface="Arial"/>
              </a:rPr>
              <a:t>1. Physical Co-location</a:t>
            </a:r>
            <a:endParaRPr sz="3150">
              <a:latin typeface="Arial"/>
              <a:ea typeface="Arial"/>
              <a:cs typeface="Arial"/>
              <a:sym typeface="Arial"/>
            </a:endParaRPr>
          </a:p>
          <a:p>
            <a:pPr marL="38735" marR="5080" lvl="0" indent="-1269" algn="l" rtl="0">
              <a:lnSpc>
                <a:spcPct val="111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2F3336"/>
                </a:solidFill>
                <a:latin typeface="Arial"/>
                <a:ea typeface="Arial"/>
                <a:cs typeface="Arial"/>
                <a:sym typeface="Arial"/>
              </a:rPr>
              <a:t>Team members are in the same physical room, allowing for natural communication and movement.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6401370" y="6285103"/>
            <a:ext cx="4438015" cy="302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7780" marR="904239" lvl="0" indent="2540" algn="l" rtl="0">
              <a:lnSpc>
                <a:spcPct val="10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71631"/>
                </a:solidFill>
                <a:latin typeface="Arial"/>
                <a:ea typeface="Arial"/>
                <a:cs typeface="Arial"/>
                <a:sym typeface="Arial"/>
              </a:rPr>
              <a:t>2. Shared Spatial Anchors</a:t>
            </a:r>
            <a:endParaRPr sz="31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8890" algn="l" rtl="0">
              <a:lnSpc>
                <a:spcPct val="112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2F3336"/>
                </a:solidFill>
                <a:latin typeface="Arial"/>
                <a:ea typeface="Arial"/>
                <a:cs typeface="Arial"/>
                <a:sym typeface="Arial"/>
              </a:rPr>
              <a:t>Using proven Meta XR technology, we create a persistent, shared coordinate system, mapping the virtual world precisely onto the physical space.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11966619" y="6313189"/>
            <a:ext cx="4524375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1621790" lvl="0" indent="15875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071631"/>
                </a:solidFill>
                <a:latin typeface="Arial"/>
                <a:ea typeface="Arial"/>
                <a:cs typeface="Arial"/>
                <a:sym typeface="Arial"/>
              </a:rPr>
              <a:t>3. Seamless Collaboration</a:t>
            </a:r>
            <a:endParaRPr sz="3150">
              <a:latin typeface="Arial"/>
              <a:ea typeface="Arial"/>
              <a:cs typeface="Arial"/>
              <a:sym typeface="Arial"/>
            </a:endParaRPr>
          </a:p>
          <a:p>
            <a:pPr marL="21590" marR="5080" lvl="0" indent="3175" algn="l" rtl="0">
              <a:lnSpc>
                <a:spcPct val="111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2F3336"/>
                </a:solidFill>
                <a:latin typeface="Arial"/>
                <a:ea typeface="Arial"/>
                <a:cs typeface="Arial"/>
                <a:sym typeface="Arial"/>
              </a:rPr>
              <a:t>The team interacts with each other and the virtual patient as if they were in a real operating room.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6875" y="2042858"/>
            <a:ext cx="4333924" cy="389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2013" y="2042850"/>
            <a:ext cx="1580197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 descr="Forskøn dette dias"/>
          <p:cNvPicPr preferRelativeResize="0"/>
          <p:nvPr/>
        </p:nvPicPr>
        <p:blipFill rotWithShape="1">
          <a:blip r:embed="rId3">
            <a:alphaModFix/>
          </a:blip>
          <a:srcRect b="3016"/>
          <a:stretch/>
        </p:blipFill>
        <p:spPr>
          <a:xfrm>
            <a:off x="0" y="0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094160" y="2630090"/>
            <a:ext cx="0" cy="5898515"/>
          </a:xfrm>
          <a:custGeom>
            <a:avLst/>
            <a:gdLst/>
            <a:ahLst/>
            <a:cxnLst/>
            <a:rect l="l" t="t" r="r" b="b"/>
            <a:pathLst>
              <a:path w="120000" h="5898515" extrusionOk="0">
                <a:moveTo>
                  <a:pt x="0" y="5897957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578163" y="4340752"/>
            <a:ext cx="0" cy="434340"/>
          </a:xfrm>
          <a:custGeom>
            <a:avLst/>
            <a:gdLst/>
            <a:ahLst/>
            <a:cxnLst/>
            <a:rect l="l" t="t" r="r" b="b"/>
            <a:pathLst>
              <a:path w="120000" h="434339" extrusionOk="0">
                <a:moveTo>
                  <a:pt x="0" y="434048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9705532" y="4213091"/>
            <a:ext cx="0" cy="561975"/>
          </a:xfrm>
          <a:custGeom>
            <a:avLst/>
            <a:gdLst/>
            <a:ahLst/>
            <a:cxnLst/>
            <a:rect l="l" t="t" r="r" b="b"/>
            <a:pathLst>
              <a:path w="120000" h="561975" extrusionOk="0">
                <a:moveTo>
                  <a:pt x="0" y="561710"/>
                </a:moveTo>
                <a:lnTo>
                  <a:pt x="0" y="0"/>
                </a:lnTo>
              </a:path>
            </a:pathLst>
          </a:custGeom>
          <a:noFill/>
          <a:ln w="25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9094160" y="2604557"/>
            <a:ext cx="7540625" cy="5949315"/>
          </a:xfrm>
          <a:custGeom>
            <a:avLst/>
            <a:gdLst/>
            <a:ahLst/>
            <a:cxnLst/>
            <a:rect l="l" t="t" r="r" b="b"/>
            <a:pathLst>
              <a:path w="7540625" h="5949315" extrusionOk="0">
                <a:moveTo>
                  <a:pt x="7540256" y="5949022"/>
                </a:moveTo>
                <a:lnTo>
                  <a:pt x="7540256" y="0"/>
                </a:lnTo>
              </a:path>
              <a:path w="7540625" h="5949315" extrusionOk="0">
                <a:moveTo>
                  <a:pt x="0" y="12766"/>
                </a:moveTo>
                <a:lnTo>
                  <a:pt x="7540256" y="12766"/>
                </a:lnTo>
              </a:path>
            </a:pathLst>
          </a:custGeom>
          <a:noFill/>
          <a:ln w="12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9094160" y="8515281"/>
            <a:ext cx="7540625" cy="0"/>
          </a:xfrm>
          <a:custGeom>
            <a:avLst/>
            <a:gdLst/>
            <a:ahLst/>
            <a:cxnLst/>
            <a:rect l="l" t="t" r="r" b="b"/>
            <a:pathLst>
              <a:path w="7540625" h="120000" extrusionOk="0">
                <a:moveTo>
                  <a:pt x="0" y="0"/>
                </a:moveTo>
                <a:lnTo>
                  <a:pt x="7540256" y="0"/>
                </a:lnTo>
              </a:path>
            </a:pathLst>
          </a:custGeom>
          <a:noFill/>
          <a:ln w="12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" descr="$PPTXTitle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00" cy="14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100" rIns="0" bIns="0" anchor="t" anchorCtr="0">
            <a:spAutoFit/>
          </a:bodyPr>
          <a:lstStyle/>
          <a:p>
            <a:pPr marL="1333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0A162B"/>
                </a:solidFill>
              </a:rPr>
              <a:t>Targeting the $2.6B Medical Simulation Market with a Focused Strategy</a:t>
            </a:r>
            <a:r>
              <a:rPr lang="en-US" sz="3900">
                <a:solidFill>
                  <a:srgbClr val="282B36"/>
                </a:solidFill>
              </a:rPr>
              <a:t>.</a:t>
            </a:r>
            <a:endParaRPr sz="3900"/>
          </a:p>
        </p:txBody>
      </p:sp>
      <p:sp>
        <p:nvSpPr>
          <p:cNvPr id="115" name="Google Shape;115;p14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9556800" y="2987600"/>
            <a:ext cx="642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Our Bottom-Up Logic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550520" y="4098263"/>
            <a:ext cx="60515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=�=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34925" lvl="0" indent="0" algn="l" rtl="0">
              <a:lnSpc>
                <a:spcPct val="33333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0  ODO 0</a:t>
            </a:r>
            <a:endParaRPr sz="750">
              <a:latin typeface="Arial"/>
              <a:ea typeface="Arial"/>
              <a:cs typeface="Arial"/>
              <a:sym typeface="Arial"/>
            </a:endParaRPr>
          </a:p>
          <a:p>
            <a:pPr marL="60960" lvl="0" indent="0" algn="l" rtl="0">
              <a:lnSpc>
                <a:spcPct val="56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800" u="none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775" u="sng" baseline="-25000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775" u="none" baseline="-25000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u="sng">
                <a:solidFill>
                  <a:srgbClr val="5B999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9495450" y="4034425"/>
            <a:ext cx="6739800" cy="40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1412240" marR="88900" lvl="0" indent="-274319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Clr>
                <a:srgbClr val="697783"/>
              </a:buClr>
              <a:buSzPts val="2100"/>
              <a:buFont typeface="Arial"/>
              <a:buChar char="•"/>
            </a:pPr>
            <a:r>
              <a:rPr lang="en-US" sz="2600" b="1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Target Institutions</a:t>
            </a:r>
            <a:r>
              <a:rPr lang="en-US" sz="2600" b="1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2,500 top-t</a:t>
            </a:r>
            <a:r>
              <a:rPr lang="en-US" sz="2500">
                <a:solidFill>
                  <a:srgbClr val="42484D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er</a:t>
            </a:r>
            <a:r>
              <a:rPr lang="en-US" sz="2500">
                <a:solidFill>
                  <a:srgbClr val="282B36"/>
                </a:solidFill>
              </a:rPr>
              <a:t> 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eaching 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ospitals </a:t>
            </a:r>
            <a:r>
              <a:rPr lang="en-US" sz="255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ive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sities.</a:t>
            </a:r>
            <a:endParaRPr sz="2500">
              <a:solidFill>
                <a:srgbClr val="282B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88900" lvl="0" indent="0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282B36"/>
              </a:solidFill>
            </a:endParaRPr>
          </a:p>
          <a:p>
            <a:pPr marL="1412240" marR="88900" lvl="0" indent="-274319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Clr>
                <a:srgbClr val="697783"/>
              </a:buClr>
              <a:buSzPts val="2100"/>
              <a:buFont typeface="Arial"/>
              <a:buChar char="•"/>
            </a:pPr>
            <a:r>
              <a:rPr lang="en-US" sz="2600" b="1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Our Goal</a:t>
            </a:r>
            <a:r>
              <a:rPr lang="en-US" sz="2600" b="1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Capture 100</a:t>
            </a:r>
            <a:r>
              <a:rPr lang="en-US" sz="2500">
                <a:solidFill>
                  <a:srgbClr val="282B36"/>
                </a:solidFill>
              </a:rPr>
              <a:t> 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sti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tu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tio</a:t>
            </a:r>
            <a:r>
              <a:rPr lang="en-US" sz="2500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 sz="2600">
              <a:solidFill>
                <a:srgbClr val="697783"/>
              </a:solidFill>
            </a:endParaRPr>
          </a:p>
          <a:p>
            <a:pPr marL="457200" marR="88900" lvl="0" indent="0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A162B"/>
              </a:solidFill>
            </a:endParaRPr>
          </a:p>
          <a:p>
            <a:pPr marL="1412240" marR="88900" lvl="0" indent="-274319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Clr>
                <a:srgbClr val="697783"/>
              </a:buClr>
              <a:buSzPts val="2100"/>
              <a:buFont typeface="Arial"/>
              <a:buChar char="•"/>
            </a:pPr>
            <a:r>
              <a:rPr lang="en-US" sz="2600" b="1">
                <a:solidFill>
                  <a:srgbClr val="0A162B"/>
                </a:solidFill>
                <a:latin typeface="Arial"/>
                <a:ea typeface="Arial"/>
                <a:cs typeface="Arial"/>
                <a:sym typeface="Arial"/>
              </a:rPr>
              <a:t>Avg. Contract Value</a:t>
            </a:r>
            <a:r>
              <a:rPr lang="en-US" sz="2600" b="1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00">
                <a:solidFill>
                  <a:srgbClr val="282B36"/>
                </a:solidFill>
                <a:latin typeface="Arial"/>
                <a:ea typeface="Arial"/>
                <a:cs typeface="Arial"/>
                <a:sym typeface="Arial"/>
              </a:rPr>
              <a:t>€50k/year.</a:t>
            </a:r>
            <a:endParaRPr sz="2500">
              <a:solidFill>
                <a:srgbClr val="282B36"/>
              </a:solidFill>
            </a:endParaRPr>
          </a:p>
          <a:p>
            <a:pPr marL="457200" marR="88900" lvl="0" indent="0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rgbClr val="0A162B"/>
              </a:solidFill>
            </a:endParaRPr>
          </a:p>
          <a:p>
            <a:pPr marL="1412240" marR="88900" lvl="0" indent="-274319" algn="l" rtl="0">
              <a:lnSpc>
                <a:spcPct val="112307"/>
              </a:lnSpc>
              <a:spcBef>
                <a:spcPts val="0"/>
              </a:spcBef>
              <a:spcAft>
                <a:spcPts val="0"/>
              </a:spcAft>
              <a:buClr>
                <a:srgbClr val="697783"/>
              </a:buClr>
              <a:buSzPts val="2100"/>
              <a:buFont typeface="Arial"/>
              <a:buChar char="•"/>
            </a:pPr>
            <a:r>
              <a:rPr lang="en-US" sz="2600" b="1">
                <a:solidFill>
                  <a:srgbClr val="0A162B"/>
                </a:solidFill>
              </a:rPr>
              <a:t>Year 5 ARR: </a:t>
            </a:r>
            <a:r>
              <a:rPr lang="en-US" sz="2500">
                <a:solidFill>
                  <a:srgbClr val="282B36"/>
                </a:solidFill>
              </a:rPr>
              <a:t>€5M (wi</a:t>
            </a:r>
            <a:r>
              <a:rPr lang="en-US" sz="2500">
                <a:solidFill>
                  <a:srgbClr val="0A162B"/>
                </a:solidFill>
              </a:rPr>
              <a:t>th </a:t>
            </a:r>
            <a:r>
              <a:rPr lang="en-US" sz="2500">
                <a:solidFill>
                  <a:srgbClr val="282B36"/>
                </a:solidFill>
              </a:rPr>
              <a:t>c</a:t>
            </a:r>
            <a:r>
              <a:rPr lang="en-US" sz="2500">
                <a:solidFill>
                  <a:srgbClr val="0A162B"/>
                </a:solidFill>
              </a:rPr>
              <a:t>l</a:t>
            </a:r>
            <a:r>
              <a:rPr lang="en-US" sz="2500">
                <a:solidFill>
                  <a:srgbClr val="282B36"/>
                </a:solidFill>
              </a:rPr>
              <a:t>ear expa</a:t>
            </a:r>
            <a:r>
              <a:rPr lang="en-US" sz="2500">
                <a:solidFill>
                  <a:srgbClr val="0A162B"/>
                </a:solidFill>
              </a:rPr>
              <a:t>n</a:t>
            </a:r>
            <a:r>
              <a:rPr lang="en-US" sz="2500">
                <a:solidFill>
                  <a:srgbClr val="282B36"/>
                </a:solidFill>
              </a:rPr>
              <a:t>sion poten</a:t>
            </a:r>
            <a:r>
              <a:rPr lang="en-US" sz="2500">
                <a:solidFill>
                  <a:srgbClr val="0A162B"/>
                </a:solidFill>
              </a:rPr>
              <a:t>t</a:t>
            </a:r>
            <a:r>
              <a:rPr lang="en-US" sz="2500">
                <a:solidFill>
                  <a:srgbClr val="282B36"/>
                </a:solidFill>
              </a:rPr>
              <a:t>ial within accoun</a:t>
            </a:r>
            <a:r>
              <a:rPr lang="en-US" sz="2500">
                <a:solidFill>
                  <a:srgbClr val="0A162B"/>
                </a:solidFill>
              </a:rPr>
              <a:t>t</a:t>
            </a:r>
            <a:r>
              <a:rPr lang="en-US" sz="2500">
                <a:solidFill>
                  <a:srgbClr val="282B36"/>
                </a:solidFill>
              </a:rPr>
              <a:t>s).</a:t>
            </a:r>
            <a:endParaRPr sz="2500">
              <a:solidFill>
                <a:srgbClr val="282B36"/>
              </a:solidFill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00" y="2298183"/>
            <a:ext cx="7600957" cy="7339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7232" y="4155947"/>
            <a:ext cx="76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78170" y="5231685"/>
            <a:ext cx="7715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25807" y="616992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25807" y="7180722"/>
            <a:ext cx="714375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/>
        </p:nvSpPr>
        <p:spPr>
          <a:xfrm>
            <a:off x="3297140" y="523743"/>
            <a:ext cx="1090803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>
                <a:solidFill>
                  <a:srgbClr val="070F1F"/>
                </a:solidFill>
                <a:latin typeface="Arial"/>
                <a:ea typeface="Arial"/>
                <a:cs typeface="Arial"/>
                <a:sym typeface="Arial"/>
              </a:rPr>
              <a:t>We Aren't Just Better, We're Different.</a:t>
            </a:r>
            <a:endParaRPr sz="4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6147783" y="9418922"/>
            <a:ext cx="126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5"/>
          <p:cNvPicPr preferRelativeResize="0"/>
          <p:nvPr/>
        </p:nvPicPr>
        <p:blipFill rotWithShape="1">
          <a:blip r:embed="rId3">
            <a:alphaModFix/>
          </a:blip>
          <a:srcRect l="288" r="288"/>
          <a:stretch/>
        </p:blipFill>
        <p:spPr>
          <a:xfrm>
            <a:off x="1542525" y="1253993"/>
            <a:ext cx="14077949" cy="755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8824" y="2299850"/>
            <a:ext cx="115252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 descr="$PPTXTitle"/>
          <p:cNvSpPr txBox="1">
            <a:spLocks noGrp="1"/>
          </p:cNvSpPr>
          <p:nvPr>
            <p:ph type="title"/>
          </p:nvPr>
        </p:nvSpPr>
        <p:spPr>
          <a:xfrm>
            <a:off x="3330701" y="485450"/>
            <a:ext cx="121608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5080F"/>
                </a:solidFill>
              </a:rPr>
              <a:t>From Validation to a Clear Path Forward.</a:t>
            </a:r>
            <a:endParaRPr sz="4800"/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463" y="1744925"/>
            <a:ext cx="15342077" cy="699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124625" y="2161275"/>
            <a:ext cx="4422000" cy="6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rgbClr val="05080F"/>
                </a:solidFill>
              </a:rPr>
              <a:t>PRESENT (Q4 2025)</a:t>
            </a:r>
            <a:endParaRPr sz="2750" b="1">
              <a:solidFill>
                <a:srgbClr val="05080F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2266850" y="5751950"/>
            <a:ext cx="2822700" cy="6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 b="1">
                <a:solidFill>
                  <a:srgbClr val="05080F"/>
                </a:solidFill>
              </a:rPr>
              <a:t>PAST (Q3 2025)</a:t>
            </a:r>
            <a:endParaRPr sz="2750" b="1">
              <a:solidFill>
                <a:srgbClr val="05080F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1912425" y="6534650"/>
            <a:ext cx="4205100" cy="23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5080F"/>
              </a:buClr>
              <a:buSzPts val="1850"/>
              <a:buChar char="●"/>
            </a:pPr>
            <a:r>
              <a:rPr lang="en-US" sz="1850" b="1">
                <a:solidFill>
                  <a:srgbClr val="05080F"/>
                </a:solidFill>
              </a:rPr>
              <a:t>Q2 2026:</a:t>
            </a:r>
            <a:r>
              <a:rPr lang="en-US" sz="1850">
                <a:solidFill>
                  <a:srgbClr val="05080F"/>
                </a:solidFill>
              </a:rPr>
              <a:t> First Pilot Program with a Major University Hospital.</a:t>
            </a:r>
            <a:endParaRPr sz="1850">
              <a:solidFill>
                <a:srgbClr val="05080F"/>
              </a:solidFill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5080F"/>
              </a:buClr>
              <a:buSzPts val="1850"/>
              <a:buChar char="●"/>
            </a:pPr>
            <a:r>
              <a:rPr lang="en-US" sz="1850" b="1">
                <a:solidFill>
                  <a:srgbClr val="05080F"/>
                </a:solidFill>
              </a:rPr>
              <a:t>Q4 2026:</a:t>
            </a:r>
            <a:r>
              <a:rPr lang="en-US" sz="1850">
                <a:solidFill>
                  <a:srgbClr val="05080F"/>
                </a:solidFill>
              </a:rPr>
              <a:t> Commercial MVP Launch.</a:t>
            </a:r>
            <a:endParaRPr sz="1850">
              <a:solidFill>
                <a:srgbClr val="05080F"/>
              </a:solidFill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5080F"/>
              </a:buClr>
              <a:buSzPts val="1850"/>
              <a:buChar char="●"/>
            </a:pPr>
            <a:r>
              <a:rPr lang="en-US" sz="1850" b="1">
                <a:solidFill>
                  <a:srgbClr val="05080F"/>
                </a:solidFill>
              </a:rPr>
              <a:t>2027:</a:t>
            </a:r>
            <a:r>
              <a:rPr lang="en-US" sz="1850">
                <a:solidFill>
                  <a:srgbClr val="05080F"/>
                </a:solidFill>
              </a:rPr>
              <a:t> Scale to 10 paying institutions.</a:t>
            </a:r>
            <a:endParaRPr sz="1850">
              <a:solidFill>
                <a:srgbClr val="05080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10963"/>
            <a:ext cx="1350112" cy="155746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1337376" y="1864121"/>
            <a:ext cx="0" cy="970280"/>
          </a:xfrm>
          <a:custGeom>
            <a:avLst/>
            <a:gdLst/>
            <a:ahLst/>
            <a:cxnLst/>
            <a:rect l="l" t="t" r="r" b="b"/>
            <a:pathLst>
              <a:path w="120000" h="970280" extrusionOk="0">
                <a:moveTo>
                  <a:pt x="0" y="970226"/>
                </a:moveTo>
                <a:lnTo>
                  <a:pt x="0" y="0"/>
                </a:lnTo>
              </a:path>
            </a:pathLst>
          </a:custGeom>
          <a:noFill/>
          <a:ln w="127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100984" y="4085430"/>
            <a:ext cx="0" cy="1430020"/>
          </a:xfrm>
          <a:custGeom>
            <a:avLst/>
            <a:gdLst/>
            <a:ahLst/>
            <a:cxnLst/>
            <a:rect l="l" t="t" r="r" b="b"/>
            <a:pathLst>
              <a:path w="120000" h="1430020" extrusionOk="0">
                <a:moveTo>
                  <a:pt x="0" y="1429807"/>
                </a:moveTo>
                <a:lnTo>
                  <a:pt x="0" y="0"/>
                </a:lnTo>
              </a:path>
            </a:pathLst>
          </a:custGeom>
          <a:noFill/>
          <a:ln w="38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4152235" y="1774758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120000" extrusionOk="0">
                <a:moveTo>
                  <a:pt x="0" y="0"/>
                </a:moveTo>
                <a:lnTo>
                  <a:pt x="917058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0" y="5796093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 h="120000" extrusionOk="0">
                <a:moveTo>
                  <a:pt x="0" y="0"/>
                </a:moveTo>
                <a:lnTo>
                  <a:pt x="738741" y="0"/>
                </a:lnTo>
              </a:path>
            </a:pathLst>
          </a:custGeom>
          <a:noFill/>
          <a:ln w="12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7" descr="$PPTXTitle"/>
          <p:cNvSpPr txBox="1">
            <a:spLocks noGrp="1"/>
          </p:cNvSpPr>
          <p:nvPr>
            <p:ph type="title"/>
          </p:nvPr>
        </p:nvSpPr>
        <p:spPr>
          <a:xfrm>
            <a:off x="714132" y="351398"/>
            <a:ext cx="16105850" cy="175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4175" rIns="0" bIns="0" anchor="t" anchorCtr="0">
            <a:spAutoFit/>
          </a:bodyPr>
          <a:lstStyle/>
          <a:p>
            <a:pPr marL="3041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07132D"/>
                </a:solidFill>
              </a:rPr>
              <a:t>The Right Team to Bridge Healthcare and Technology</a:t>
            </a:r>
            <a:endParaRPr sz="4600"/>
          </a:p>
        </p:txBody>
      </p:sp>
      <p:sp>
        <p:nvSpPr>
          <p:cNvPr id="151" name="Google Shape;151;p17"/>
          <p:cNvSpPr txBox="1"/>
          <p:nvPr/>
        </p:nvSpPr>
        <p:spPr>
          <a:xfrm>
            <a:off x="1502499" y="5668425"/>
            <a:ext cx="33927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0" marR="120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07132D"/>
                </a:solidFill>
              </a:rPr>
              <a:t>Sebastian</a:t>
            </a:r>
            <a:r>
              <a:rPr lang="en-US" sz="2550" b="1">
                <a:solidFill>
                  <a:srgbClr val="0713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50" b="1">
                <a:solidFill>
                  <a:srgbClr val="07132D"/>
                </a:solidFill>
              </a:rPr>
              <a:t>Founder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Bachelor in Software Engineering, Master Student</a:t>
            </a: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Seibert Solutions Denmark, Danmarks Frie Forskningsfond </a:t>
            </a:r>
            <a:endParaRPr sz="2050">
              <a:solidFill>
                <a:srgbClr val="31343B"/>
              </a:solidFill>
            </a:endParaRPr>
          </a:p>
        </p:txBody>
      </p:sp>
      <p:pic>
        <p:nvPicPr>
          <p:cNvPr id="152" name="Google Shape;152;p17" title="900937_408133_6373473361110588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489" y="2262018"/>
            <a:ext cx="3392712" cy="3392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900937_419212_6384280298728876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7927" y="2262018"/>
            <a:ext cx="3392712" cy="3392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82470773_2712147885528405_1244013491757514752_n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3365" y="2109618"/>
            <a:ext cx="3534075" cy="35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images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70166" y="2109618"/>
            <a:ext cx="3534075" cy="35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177949" y="5668425"/>
            <a:ext cx="3392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0" marR="120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07132D"/>
                </a:solidFill>
              </a:rPr>
              <a:t>Jon</a:t>
            </a:r>
            <a:r>
              <a:rPr lang="en-US" sz="2550" b="1">
                <a:solidFill>
                  <a:srgbClr val="0713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50" b="1">
                <a:solidFill>
                  <a:srgbClr val="07132D"/>
                </a:solidFill>
              </a:rPr>
              <a:t>Founder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Bachelor in Software Engineering, Master Student</a:t>
            </a: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Bankdata </a:t>
            </a:r>
            <a:endParaRPr sz="2050">
              <a:solidFill>
                <a:srgbClr val="31343B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994749" y="5668425"/>
            <a:ext cx="3392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0" marR="120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07132D"/>
                </a:solidFill>
              </a:rPr>
              <a:t>Sebastian</a:t>
            </a:r>
            <a:r>
              <a:rPr lang="en-US" sz="2550" b="1">
                <a:solidFill>
                  <a:srgbClr val="0713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50" b="1">
                <a:solidFill>
                  <a:srgbClr val="07132D"/>
                </a:solidFill>
              </a:rPr>
              <a:t>Founder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Bachelor in Software Engineering, Master Student</a:t>
            </a: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B2B Promotion Danmark </a:t>
            </a:r>
            <a:endParaRPr sz="2050">
              <a:solidFill>
                <a:srgbClr val="31343B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2670174" y="5668425"/>
            <a:ext cx="3392700" cy="25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925" rIns="0" bIns="0" anchor="t" anchorCtr="0">
            <a:spAutoFit/>
          </a:bodyPr>
          <a:lstStyle/>
          <a:p>
            <a:pPr marL="0" marR="120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07132D"/>
                </a:solidFill>
              </a:rPr>
              <a:t>Kasper</a:t>
            </a:r>
            <a:r>
              <a:rPr lang="en-US" sz="2550" b="1">
                <a:solidFill>
                  <a:srgbClr val="07132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50" b="1">
                <a:solidFill>
                  <a:srgbClr val="07132D"/>
                </a:solidFill>
              </a:rPr>
              <a:t>Founder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Bachelor in Software Engineering, Master Student</a:t>
            </a: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endParaRPr sz="2050">
              <a:solidFill>
                <a:srgbClr val="31343B"/>
              </a:solidFill>
            </a:endParaRPr>
          </a:p>
          <a:p>
            <a:pPr marL="12065" marR="5080" lvl="0" indent="0" algn="ctr" rtl="0">
              <a:lnSpc>
                <a:spcPct val="96000"/>
              </a:lnSpc>
              <a:spcBef>
                <a:spcPts val="1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31343B"/>
                </a:solidFill>
              </a:rPr>
              <a:t>Vitec Aloc, SDU (Nudge2Green) </a:t>
            </a:r>
            <a:endParaRPr sz="2050">
              <a:solidFill>
                <a:srgbClr val="3134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 descr="$PPTXTitle"/>
          <p:cNvSpPr txBox="1">
            <a:spLocks noGrp="1"/>
          </p:cNvSpPr>
          <p:nvPr>
            <p:ph type="title"/>
          </p:nvPr>
        </p:nvSpPr>
        <p:spPr>
          <a:xfrm>
            <a:off x="714125" y="351400"/>
            <a:ext cx="165861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0" rIns="0" bIns="0" anchor="t" anchorCtr="0">
            <a:spAutoFit/>
          </a:bodyPr>
          <a:lstStyle/>
          <a:p>
            <a:pPr marL="1517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71836"/>
                </a:solidFill>
              </a:rPr>
              <a:t>A Capital-Efficient Path to Profitability and €15M in ARR</a:t>
            </a:r>
            <a:endParaRPr sz="4800"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63" y="1497050"/>
            <a:ext cx="16449675" cy="75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 descr="$PPTXTitle"/>
          <p:cNvSpPr txBox="1">
            <a:spLocks noGrp="1"/>
          </p:cNvSpPr>
          <p:nvPr>
            <p:ph type="title"/>
          </p:nvPr>
        </p:nvSpPr>
        <p:spPr>
          <a:xfrm>
            <a:off x="684682" y="299923"/>
            <a:ext cx="16105800" cy="17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125" rIns="0" bIns="0" anchor="t" anchorCtr="0">
            <a:spAutoFit/>
          </a:bodyPr>
          <a:lstStyle/>
          <a:p>
            <a:pPr marL="6515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Seeking a Partner to Revolutionize Medical Training.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88" y="2046223"/>
            <a:ext cx="15801975" cy="72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remove the text in the bottom Founder Narne, CEO&#10;ceo@synapsevr.com&#10;(234) 567-8900&#10;www.synaps evr,corn"/>
          <p:cNvPicPr preferRelativeResize="0"/>
          <p:nvPr/>
        </p:nvPicPr>
        <p:blipFill rotWithShape="1">
          <a:blip r:embed="rId3">
            <a:alphaModFix/>
          </a:blip>
          <a:srcRect b="5793"/>
          <a:stretch/>
        </p:blipFill>
        <p:spPr>
          <a:xfrm>
            <a:off x="0" y="-25"/>
            <a:ext cx="174752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Brugerdefineret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1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PowerPoint-præsentation</vt:lpstr>
      <vt:lpstr>The Stakes Are Immense. The Problem is Human.</vt:lpstr>
      <vt:lpstr>Today's Training is a Low-Fidelity Dress Rehearsal for a High-Stakes Reality</vt:lpstr>
      <vt:lpstr>The Realism of VR. The Dynamics of Real-World Teamwork.</vt:lpstr>
      <vt:lpstr>How It Works: Shared Space, Shared Experience</vt:lpstr>
      <vt:lpstr>PowerPoint-præsentation</vt:lpstr>
      <vt:lpstr>Targeting the $2.6B Medical Simulation Market with a Focused Strategy.</vt:lpstr>
      <vt:lpstr>PowerPoint-præsentation</vt:lpstr>
      <vt:lpstr>From Validation to a Clear Path Forward.</vt:lpstr>
      <vt:lpstr>The Right Team to Bridge Healthcare and Technology</vt:lpstr>
      <vt:lpstr>A Capital-Efficient Path to Profitability and €15M in ARR</vt:lpstr>
      <vt:lpstr>Seeking a Partner to Revolutionize Medical Training.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Kasper Vork Nielsen</cp:lastModifiedBy>
  <cp:revision>2</cp:revision>
  <dcterms:modified xsi:type="dcterms:W3CDTF">2025-12-03T10:22:25Z</dcterms:modified>
</cp:coreProperties>
</file>