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600" b="1">
                <a:solidFill>
                  <a:srgbClr val="E5E7EB"/>
                </a:solidFill>
              </a:rPr>
              <a:t>Co-located Multi-user VR System
We Are Headset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</a:rPr>
              <a:t>Technical feasibility validation of a 3-user Meta Quest 3 co-located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CBD5E1"/>
                </a:solidFill>
              </a:rPr>
              <a:t>20/01/26
Kasper Vork · Jon Friis · Sebastian Jensen · Sebastian Pedersen · Seb J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6080760"/>
            <a:ext cx="10972800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5E7EB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>
                <a:solidFill>
                  <a:srgbClr val="E5E7EB"/>
                </a:solidFill>
              </a:defRPr>
            </a:pPr>
            <a:r>
              <a:t>1. The Case</a:t>
            </a:r>
          </a:p>
          <a:p>
            <a:pPr>
              <a:defRPr sz="3000">
                <a:solidFill>
                  <a:srgbClr val="E5E7EB"/>
                </a:solidFill>
              </a:defRPr>
            </a:pPr>
            <a:r>
              <a:t>2. Video Presentation</a:t>
            </a:r>
          </a:p>
          <a:p>
            <a:pPr>
              <a:defRPr sz="3000">
                <a:solidFill>
                  <a:srgbClr val="E5E7EB"/>
                </a:solidFill>
              </a:defRPr>
            </a:pPr>
            <a:r>
              <a:t>3. State of the Art</a:t>
            </a:r>
          </a:p>
          <a:p>
            <a:pPr>
              <a:defRPr sz="3000">
                <a:solidFill>
                  <a:srgbClr val="E5E7EB"/>
                </a:solidFill>
              </a:defRPr>
            </a:pPr>
            <a:r>
              <a:t>4. Research (Approach &amp; Benchmarks)</a:t>
            </a:r>
          </a:p>
          <a:p>
            <a:pPr>
              <a:defRPr sz="3000">
                <a:solidFill>
                  <a:srgbClr val="E5E7EB"/>
                </a:solidFill>
              </a:defRPr>
            </a:pPr>
            <a:r>
              <a:t>5. Prototype</a:t>
            </a:r>
          </a:p>
          <a:p>
            <a:pPr>
              <a:defRPr sz="3000">
                <a:solidFill>
                  <a:srgbClr val="E5E7EB"/>
                </a:solidFill>
              </a:defRPr>
            </a:pPr>
            <a:r>
              <a:t>6.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CBD5E1"/>
                </a:solidFill>
              </a:rPr>
              <a:t>Slides mapped to your outline: 03–08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5E7EB"/>
                </a:solidFill>
              </a:rPr>
              <a:t>The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274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CBD5E1"/>
                </a:solidFill>
              </a:rPr>
              <a:t>Jon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E5E7EB"/>
                </a:solidFill>
              </a:defRPr>
            </a:pPr>
            <a:r>
              <a:t>Challenge: enable co-located multi-user VR training on consumer hardware (Meta Quest 3) without external tracking.</a:t>
            </a:r>
          </a:p>
          <a:p>
            <a:pPr>
              <a:defRPr sz="2400">
                <a:solidFill>
                  <a:srgbClr val="E5E7EB"/>
                </a:solidFill>
              </a:defRPr>
            </a:pPr>
            <a:r>
              <a:t>Safety: maintain sub-centimeter spatial alignment to reduce collision risk (reference target &lt;10mm).</a:t>
            </a:r>
          </a:p>
          <a:p>
            <a:pPr>
              <a:defRPr sz="2400">
                <a:solidFill>
                  <a:srgbClr val="E5E7EB"/>
                </a:solidFill>
              </a:defRPr>
            </a:pPr>
            <a:r>
              <a:t>Collaboration: keep network latency low on consumer WiFi (target ≤ 75ms RTT).</a:t>
            </a:r>
          </a:p>
          <a:p>
            <a:pPr>
              <a:defRPr sz="2400">
                <a:solidFill>
                  <a:srgbClr val="E5E7EB"/>
                </a:solidFill>
              </a:defRPr>
            </a:pPr>
            <a:r>
              <a:t>Stability: sustain 72Hz rendering over long sessions without thermal throttling or drift.</a:t>
            </a:r>
          </a:p>
          <a:p>
            <a:pPr>
              <a:defRPr sz="2400">
                <a:solidFill>
                  <a:srgbClr val="E5E7EB"/>
                </a:solidFill>
              </a:defRPr>
            </a:pPr>
            <a:r>
              <a:t>Practicality: minimal setup time + repeatable multi-headset deployment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5E7EB"/>
                </a:solidFill>
              </a:rPr>
              <a:t>Video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274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CBD5E1"/>
                </a:solidFill>
              </a:rPr>
              <a:t>Seb 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E5E7EB"/>
                </a:solidFill>
              </a:defRPr>
            </a:pPr>
            <a:r>
              <a:t>Insert demo video (or link/QR) here:</a:t>
            </a:r>
          </a:p>
          <a:p>
            <a:pPr>
              <a:defRPr sz="2400">
                <a:solidFill>
                  <a:srgbClr val="E5E7EB"/>
                </a:solidFill>
              </a:defRPr>
            </a:pPr>
            <a:r>
              <a:t>- Co-location join flow (host advertises group UUID; guests discover &amp; localize anchor)</a:t>
            </a:r>
          </a:p>
          <a:p>
            <a:pPr>
              <a:defRPr sz="2400">
                <a:solidFill>
                  <a:srgbClr val="E5E7EB"/>
                </a:solidFill>
              </a:defRPr>
            </a:pPr>
            <a:r>
              <a:t>- Shared arena alignment across 3 headsets</a:t>
            </a:r>
          </a:p>
          <a:p>
            <a:pPr>
              <a:defRPr sz="2400">
                <a:solidFill>
                  <a:srgbClr val="E5E7EB"/>
                </a:solidFill>
              </a:defRPr>
            </a:pPr>
            <a:r>
              <a:t>- Drone shooting gameplay + avatars (Fusion sync)</a:t>
            </a:r>
          </a:p>
          <a:p>
            <a:pPr>
              <a:defRPr sz="2400">
                <a:solidFill>
                  <a:srgbClr val="E5E7EB"/>
                </a:solidFill>
              </a:defRPr>
            </a:pPr>
            <a:r>
              <a:t>- On-device logging overlay (latency/fps/thermal)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5E7EB"/>
                </a:solidFill>
              </a:rPr>
              <a:t>State of the 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274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CBD5E1"/>
                </a:solidFill>
              </a:rPr>
              <a:t>Sebastian Holmsted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5E7EB"/>
                </a:solidFill>
              </a:defRPr>
            </a:pPr>
            <a:r>
              <a:t>Latency &amp; QoE: good collaboration typically needs ≤ 75ms RTT; &gt;300ms degrades severely (Van Damme et al.).</a:t>
            </a:r>
          </a:p>
          <a:p>
            <a:pPr>
              <a:defRPr sz="2200">
                <a:solidFill>
                  <a:srgbClr val="E5E7EB"/>
                </a:solidFill>
              </a:defRPr>
            </a:pPr>
            <a:r>
              <a:t>Co-location calibration: SLAM-tracked headsets can reach ~10mm with suitable procedures (Reimer et al.).</a:t>
            </a:r>
          </a:p>
          <a:p>
            <a:pPr>
              <a:defRPr sz="2200">
                <a:solidFill>
                  <a:srgbClr val="E5E7EB"/>
                </a:solidFill>
              </a:defRPr>
            </a:pPr>
            <a:r>
              <a:t>Spatial awareness: WIM / map-style overviews improve coordination in complex tasks (Chen et al.).</a:t>
            </a:r>
          </a:p>
          <a:p>
            <a:pPr>
              <a:defRPr sz="2200">
                <a:solidFill>
                  <a:srgbClr val="E5E7EB"/>
                </a:solidFill>
              </a:defRPr>
            </a:pPr>
            <a:r>
              <a:t>Cross-user consistency: mismatched representations reduce performance and experience (Weiss et al.).</a:t>
            </a:r>
          </a:p>
          <a:p>
            <a:pPr>
              <a:defRPr sz="2200">
                <a:solidFill>
                  <a:srgbClr val="E5E7EB"/>
                </a:solidFill>
              </a:defRPr>
            </a:pPr>
            <a:r>
              <a:t>Gap: limited validation that a consumer 3-user standalone setup can meet alignment + latency + stability simultaneously.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5E7EB"/>
                </a:solidFill>
              </a:rPr>
              <a:t>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274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CBD5E1"/>
                </a:solidFill>
              </a:rPr>
              <a:t>Kasper Vork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5E7EB"/>
                </a:solidFill>
              </a:defRPr>
            </a:pPr>
            <a:r>
              <a:t>Goal: technical feasibility validation (not a learning-outcome study).</a:t>
            </a:r>
          </a:p>
          <a:p>
            <a:pPr>
              <a:defRPr sz="2200">
                <a:solidFill>
                  <a:srgbClr val="E5E7EB"/>
                </a:solidFill>
              </a:defRPr>
            </a:pPr>
            <a:r>
              <a:t>RQ1–RQ5 cover: colocation implementation, accuracy/drift, on-device monitoring, deployment workflow, feasibility boundaries.</a:t>
            </a:r>
          </a:p>
          <a:p>
            <a:pPr>
              <a:defRPr sz="2200">
                <a:solidFill>
                  <a:srgbClr val="E5E7EB"/>
                </a:solidFill>
              </a:defRPr>
            </a:pPr>
            <a:r>
              <a:t>Benchmarks (literature-derived): ≤ 75ms RTT; &lt;10mm alignment; ~72Hz frame rate; sustained stability over 60–90 min.</a:t>
            </a:r>
          </a:p>
          <a:p>
            <a:pPr>
              <a:defRPr sz="2200">
                <a:solidFill>
                  <a:srgbClr val="E5E7EB"/>
                </a:solidFill>
              </a:defRPr>
            </a:pPr>
            <a:r>
              <a:t>Method: 3 headsets, local WiFi, continuous 1Hz on-device logs (CSV + JSON metadata).</a:t>
            </a:r>
          </a:p>
          <a:p>
            <a:pPr>
              <a:defRPr sz="2200">
                <a:solidFill>
                  <a:srgbClr val="E5E7EB"/>
                </a:solidFill>
              </a:defRPr>
            </a:pPr>
            <a:r>
              <a:t>Limitation: drift measured under stationary baseline; motion-robustness treated as future 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5E7EB"/>
                </a:solidFill>
              </a:rPr>
              <a:t>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274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CBD5E1"/>
                </a:solidFill>
              </a:rPr>
              <a:t>Jon Friis &amp; Seb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60350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5E7EB"/>
                </a:solidFill>
              </a:defRPr>
            </a:pPr>
            <a:r>
              <a:t>Hardware: 3× Meta Quest 3, co-located in shared physical space; dedicated 5GHz WiFi channel.</a:t>
            </a:r>
          </a:p>
          <a:p>
            <a:pPr>
              <a:defRPr sz="1800">
                <a:solidFill>
                  <a:srgbClr val="E5E7EB"/>
                </a:solidFill>
              </a:defRPr>
            </a:pPr>
            <a:r>
              <a:t>Unity: 6000.0.62f1 + URP.</a:t>
            </a:r>
          </a:p>
          <a:p>
            <a:pPr>
              <a:defRPr sz="1800">
                <a:solidFill>
                  <a:srgbClr val="E5E7EB"/>
                </a:solidFill>
              </a:defRPr>
            </a:pPr>
            <a:r>
              <a:t>Co-location: OVR Colocation Discovery + Shared Spatial Anchors (host creates anchor; guests localize &amp; align rig).</a:t>
            </a:r>
          </a:p>
          <a:p>
            <a:pPr>
              <a:defRPr sz="1800">
                <a:solidFill>
                  <a:srgbClr val="E5E7EB"/>
                </a:solidFill>
              </a:defRPr>
            </a:pPr>
            <a:r>
              <a:t>Networking: Photon Fusion 2 for shared objects, avatars, and gameplay sync.</a:t>
            </a:r>
          </a:p>
          <a:p>
            <a:pPr>
              <a:defRPr sz="1800">
                <a:solidFill>
                  <a:srgbClr val="E5E7EB"/>
                </a:solidFill>
              </a:defRPr>
            </a:pPr>
            <a:r>
              <a:t>Instrumentation: on-device logging at 1Hz for RTT, fps, calibration error, and thermals.</a:t>
            </a:r>
          </a:p>
        </p:txBody>
      </p:sp>
      <p:pic>
        <p:nvPicPr>
          <p:cNvPr id="6" name="Picture 5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234440"/>
            <a:ext cx="4892040" cy="3905889"/>
          </a:xfrm>
          <a:prstGeom prst="rect">
            <a:avLst/>
          </a:prstGeom>
        </p:spPr>
      </p:pic>
      <p:pic>
        <p:nvPicPr>
          <p:cNvPr id="7" name="Picture 6" descr="shared_space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4251960"/>
            <a:ext cx="4892040" cy="26086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5E7EB"/>
                </a:solidFill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274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CBD5E1"/>
                </a:solidFill>
              </a:rPr>
              <a:t>Jon Friis &amp; Seb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60350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5E7EB"/>
                </a:solidFill>
              </a:defRPr>
            </a:pPr>
            <a:r>
              <a:t>Longest 3-headset continuous window: 85.1 min (5073 samples/headset @ 1Hz; 15,234 total).</a:t>
            </a:r>
          </a:p>
          <a:p>
            <a:pPr>
              <a:defRPr sz="1800">
                <a:solidFill>
                  <a:srgbClr val="E5E7EB"/>
                </a:solidFill>
              </a:defRPr>
            </a:pPr>
            <a:r>
              <a:t>Network RTT: mean 58.2 ± 21.3ms; P95 86.0ms (tail occasionally exceeds 75ms target; spikes during init/sync).</a:t>
            </a:r>
          </a:p>
          <a:p>
            <a:pPr>
              <a:defRPr sz="1800">
                <a:solidFill>
                  <a:srgbClr val="E5E7EB"/>
                </a:solidFill>
              </a:defRPr>
            </a:pPr>
            <a:r>
              <a:t>Calibration error (stationary baseline): mean 1.21 ± 0.90mm; max 5.78mm (well below 10mm reference).</a:t>
            </a:r>
          </a:p>
          <a:p>
            <a:pPr>
              <a:defRPr sz="1800">
                <a:solidFill>
                  <a:srgbClr val="E5E7EB"/>
                </a:solidFill>
              </a:defRPr>
            </a:pPr>
            <a:r>
              <a:t>Frame rate: 72.2 ± 0.7 fps around 72Hz target.</a:t>
            </a:r>
          </a:p>
          <a:p>
            <a:pPr>
              <a:defRPr sz="1800">
                <a:solidFill>
                  <a:srgbClr val="E5E7EB"/>
                </a:solidFill>
              </a:defRPr>
            </a:pPr>
            <a:r>
              <a:t>Thermals: warming observed (max 52.6°C) while performance remained stable.</a:t>
            </a:r>
          </a:p>
        </p:txBody>
      </p:sp>
      <p:pic>
        <p:nvPicPr>
          <p:cNvPr id="6" name="Picture 5" descr="technical_performanc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234440"/>
            <a:ext cx="4892040" cy="3486930"/>
          </a:xfrm>
          <a:prstGeom prst="rect">
            <a:avLst/>
          </a:prstGeom>
        </p:spPr>
      </p:pic>
      <p:pic>
        <p:nvPicPr>
          <p:cNvPr id="7" name="Picture 6" descr="temperature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4251960"/>
            <a:ext cx="4892040" cy="17648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